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akesh N" userId="a346ac88fac14e58" providerId="LiveId" clId="{71CB2B43-9E0F-4CAA-A361-63D72BBC9352}"/>
    <pc:docChg chg="addSld modSld">
      <pc:chgData name="Raakesh N" userId="a346ac88fac14e58" providerId="LiveId" clId="{71CB2B43-9E0F-4CAA-A361-63D72BBC9352}" dt="2025-12-07T09:39:34.308" v="21" actId="114"/>
      <pc:docMkLst>
        <pc:docMk/>
      </pc:docMkLst>
      <pc:sldChg chg="modSp new mod">
        <pc:chgData name="Raakesh N" userId="a346ac88fac14e58" providerId="LiveId" clId="{71CB2B43-9E0F-4CAA-A361-63D72BBC9352}" dt="2025-12-07T09:39:34.308" v="21" actId="114"/>
        <pc:sldMkLst>
          <pc:docMk/>
          <pc:sldMk cId="2141147707" sldId="266"/>
        </pc:sldMkLst>
        <pc:spChg chg="mod">
          <ac:chgData name="Raakesh N" userId="a346ac88fac14e58" providerId="LiveId" clId="{71CB2B43-9E0F-4CAA-A361-63D72BBC9352}" dt="2025-12-07T09:39:34.308" v="21" actId="114"/>
          <ac:spMkLst>
            <pc:docMk/>
            <pc:sldMk cId="2141147707" sldId="266"/>
            <ac:spMk id="3" creationId="{A005C618-3AB5-8A60-73D4-926C5B223A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6821-657A-B93E-EFF4-190B76582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2375" y="3446204"/>
            <a:ext cx="5518066" cy="2268559"/>
          </a:xfrm>
        </p:spPr>
        <p:txBody>
          <a:bodyPr/>
          <a:lstStyle/>
          <a:p>
            <a:r>
              <a:rPr lang="en-GB" b="1" dirty="0"/>
              <a:t>INSTAGRAM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207C8-20B4-765F-2EE6-1871F85EFD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b="1" dirty="0"/>
              <a:t>Web Application architecture case study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0C41F-4A3F-DDB7-C4B8-2CCB3E516CC8}"/>
              </a:ext>
            </a:extLst>
          </p:cNvPr>
          <p:cNvSpPr txBox="1"/>
          <p:nvPr/>
        </p:nvSpPr>
        <p:spPr>
          <a:xfrm>
            <a:off x="6243484" y="5476568"/>
            <a:ext cx="2290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Created by</a:t>
            </a:r>
          </a:p>
          <a:p>
            <a:r>
              <a:rPr lang="en-US" i="1" dirty="0"/>
              <a:t>	</a:t>
            </a:r>
            <a:r>
              <a:rPr lang="en-US" b="1" i="1" dirty="0" err="1"/>
              <a:t>Raakesh.N</a:t>
            </a:r>
            <a:endParaRPr lang="en-US" b="1" i="1" dirty="0"/>
          </a:p>
          <a:p>
            <a:r>
              <a:rPr lang="en-US" b="1" i="1" dirty="0"/>
              <a:t>	( </a:t>
            </a:r>
            <a:r>
              <a:rPr lang="en-IN" dirty="0"/>
              <a:t>DVP0408</a:t>
            </a:r>
            <a:r>
              <a:rPr lang="en-IN" i="1" dirty="0"/>
              <a:t> 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574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C74B-9F2A-9468-306B-2295FE709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b="1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FB164-5FCA-72DF-A656-64FF50E65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Instagram is one of the world’s largest social media platforms with billions of monthly active users. It handles photo sharing, video delivery, messaging, and real-time interactions at massive scale. This case study explains Instagram's backend architecture, technologies used, hosting strategy, caching layers, performance optimizations, and DevOps practices that allow it to run efficiently worldwide.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1926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94A0-8F45-489D-DAE3-7B1F24F1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Web Server Used: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8B74B-DECE-BF75-8191-ABDE9BA1B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368" y="2153264"/>
            <a:ext cx="7836771" cy="389667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Instagram relies on two powerful web servers to manage both external traffic and internal communication.</a:t>
            </a:r>
          </a:p>
          <a:p>
            <a:r>
              <a:rPr lang="en-US" altLang="en-US" b="1" dirty="0">
                <a:latin typeface="Arial" panose="020B0604020202020204" pitchFamily="34" charset="0"/>
              </a:rPr>
              <a:t>Nginx</a:t>
            </a:r>
            <a:r>
              <a:rPr lang="en-US" altLang="en-US" dirty="0">
                <a:latin typeface="Arial" panose="020B0604020202020204" pitchFamily="34" charset="0"/>
              </a:rPr>
              <a:t> – Handles all incoming user traffic, acts as a reverse proxy, and balances loads efficiently.</a:t>
            </a:r>
          </a:p>
          <a:p>
            <a:r>
              <a:rPr lang="en-IN" b="1" dirty="0" err="1"/>
              <a:t>Proxygen</a:t>
            </a:r>
            <a:r>
              <a:rPr lang="en-IN" dirty="0"/>
              <a:t> – Manages fast, internal communication between Instagram’s backend microservices.</a:t>
            </a:r>
          </a:p>
          <a:p>
            <a:pPr marL="0" indent="0"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FAAB0BC-4359-21D2-9293-988EE4724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286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697CB-3454-D1E7-85CE-48CA2057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Backend Technology: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77ED2-15D8-F6A8-8381-B9A4DE73C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1808" y="1885285"/>
            <a:ext cx="7796540" cy="3997828"/>
          </a:xfrm>
        </p:spPr>
        <p:txBody>
          <a:bodyPr>
            <a:normAutofit fontScale="25000" lnSpcReduction="20000"/>
          </a:bodyPr>
          <a:lstStyle/>
          <a:p>
            <a:pPr lvl="0"/>
            <a:endParaRPr lang="en-IN" sz="1200" b="1" dirty="0"/>
          </a:p>
          <a:p>
            <a:pPr lvl="0"/>
            <a:endParaRPr lang="en-IN" sz="1200" b="1" dirty="0"/>
          </a:p>
          <a:p>
            <a:pPr lvl="0"/>
            <a:endParaRPr lang="en-IN" sz="1200" b="1" dirty="0"/>
          </a:p>
          <a:p>
            <a:pPr lvl="0"/>
            <a:endParaRPr lang="en-IN" sz="1200" b="1" dirty="0"/>
          </a:p>
          <a:p>
            <a:pPr lvl="0"/>
            <a:endParaRPr lang="en-IN" sz="1200" b="1" dirty="0"/>
          </a:p>
          <a:p>
            <a:pPr lvl="0"/>
            <a:endParaRPr lang="en-IN" sz="1200" b="1" dirty="0"/>
          </a:p>
          <a:p>
            <a:pPr marL="0" indent="0">
              <a:buNone/>
            </a:pPr>
            <a:r>
              <a:rPr lang="en-US" sz="7200" b="1" dirty="0"/>
              <a:t>Instagram combines Python, Django, Go, Node.js, and C++ so each service gets the best performance and scalability for its job.</a:t>
            </a:r>
          </a:p>
          <a:p>
            <a:r>
              <a:rPr lang="en-IN" sz="6800" b="1" dirty="0"/>
              <a:t>Python + Django</a:t>
            </a:r>
            <a:r>
              <a:rPr lang="en-IN" sz="6800" dirty="0"/>
              <a:t> → Core backend, fast development</a:t>
            </a:r>
          </a:p>
          <a:p>
            <a:pPr lvl="0"/>
            <a:r>
              <a:rPr lang="en-IN" sz="6800" b="1" dirty="0"/>
              <a:t>Go (Golang)</a:t>
            </a:r>
            <a:r>
              <a:rPr lang="en-IN" sz="6800" dirty="0"/>
              <a:t> → High-performance microservices</a:t>
            </a:r>
          </a:p>
          <a:p>
            <a:pPr lvl="0"/>
            <a:r>
              <a:rPr lang="en-IN" sz="6800" b="1" dirty="0"/>
              <a:t>Node.js</a:t>
            </a:r>
            <a:r>
              <a:rPr lang="en-IN" sz="6800" dirty="0"/>
              <a:t> → Real-time messaging and notifications</a:t>
            </a:r>
          </a:p>
          <a:p>
            <a:pPr lvl="0"/>
            <a:r>
              <a:rPr lang="en-IN" sz="6800" b="1" dirty="0"/>
              <a:t>C++</a:t>
            </a:r>
            <a:r>
              <a:rPr lang="en-IN" sz="6800" dirty="0"/>
              <a:t> → Internal Meta systems for extreme speed</a:t>
            </a:r>
          </a:p>
          <a:p>
            <a:pPr lvl="0"/>
            <a:r>
              <a:rPr lang="en-IN" sz="6800" b="1" dirty="0" err="1"/>
              <a:t>GraphQL</a:t>
            </a:r>
            <a:r>
              <a:rPr lang="en-IN" sz="6800" b="1" dirty="0"/>
              <a:t> / Celery / RPC</a:t>
            </a:r>
            <a:r>
              <a:rPr lang="en-IN" sz="6800" dirty="0"/>
              <a:t> → Efficient APIs, background tasks, and service communication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2656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3066-8869-D759-E930-30BF0238F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Why These Tools?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AF24C-C81E-8BB0-3DA3-561AF4528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Chosen for </a:t>
            </a:r>
            <a:r>
              <a:rPr lang="en-IN" b="1" dirty="0"/>
              <a:t>speed, scalability, and real-time performance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Enables </a:t>
            </a:r>
            <a:r>
              <a:rPr lang="en-IN" b="1" dirty="0"/>
              <a:t>fast development, high concurrency, and smooth user experience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626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1575-6DCA-CC6C-A8E1-4FB0FE81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Architecture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80002-F552-4B72-B142-219D2F52A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 Follows a </a:t>
            </a:r>
            <a:r>
              <a:rPr lang="en-IN" b="1" dirty="0"/>
              <a:t>multi-tier microservices architecture</a:t>
            </a:r>
            <a:r>
              <a:rPr lang="en-IN" dirty="0"/>
              <a:t> for independent scaling.</a:t>
            </a:r>
          </a:p>
          <a:p>
            <a:pPr lvl="0"/>
            <a:r>
              <a:rPr lang="en-IN" dirty="0"/>
              <a:t>Evolved from a </a:t>
            </a:r>
            <a:r>
              <a:rPr lang="en-IN" b="1" dirty="0"/>
              <a:t>monolithic Django app</a:t>
            </a:r>
            <a:r>
              <a:rPr lang="en-IN" dirty="0"/>
              <a:t> to handle massive traffic.</a:t>
            </a:r>
          </a:p>
          <a:p>
            <a:pPr lvl="0"/>
            <a:r>
              <a:rPr lang="en-IN" dirty="0"/>
              <a:t>Client layer/ Nginx or Gateway layer/ Backend microservice layer/ Database layer/ Caching layer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0945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376C8-CAE0-DED6-B56F-E0A015FC8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/>
              <a:t>Hosting and strategy: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DAF164-3680-C6D0-8B18-434D220866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84439" y="2416292"/>
            <a:ext cx="9730418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Hosted on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Meta’s private global data centers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cloud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horizontal scaling and load balancing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manage billions of requests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Load balancing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Traffic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Scaling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availability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90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1F0E-CA13-2001-7938-31F0C41C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Caching &amp; CDN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6EC7EE-18A3-C2A4-461B-E4D47CBEEE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42081" y="1885285"/>
            <a:ext cx="8297784" cy="373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Redis,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Memcache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edge caching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reduce latency.</a:t>
            </a:r>
          </a:p>
          <a:p>
            <a:pPr lvl="0"/>
            <a:r>
              <a:rPr lang="en-IN" sz="1600" b="1" dirty="0"/>
              <a:t>Redis</a:t>
            </a:r>
            <a:r>
              <a:rPr lang="en-IN" sz="1600" dirty="0"/>
              <a:t> – Stores frequently used data in memory for ultra-fast access.</a:t>
            </a:r>
          </a:p>
          <a:p>
            <a:pPr lvl="0"/>
            <a:r>
              <a:rPr lang="en-IN" sz="1600" b="1" dirty="0" err="1"/>
              <a:t>Memcache</a:t>
            </a:r>
            <a:r>
              <a:rPr lang="en-IN" sz="1600" dirty="0"/>
              <a:t> – Caches temporary data to reduce database load and improve speed.</a:t>
            </a:r>
          </a:p>
          <a:p>
            <a:pPr lvl="0"/>
            <a:r>
              <a:rPr lang="en-IN" sz="1600" b="1" dirty="0"/>
              <a:t>Edge Caching</a:t>
            </a:r>
            <a:r>
              <a:rPr lang="en-IN" sz="1600" dirty="0"/>
              <a:t> – Delivers content quickly by serving images and videos from servers </a:t>
            </a:r>
          </a:p>
          <a:p>
            <a:pPr marL="0" lvl="0" indent="0"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Akamai CDN + Meta’s CDN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fast global media delivery.</a:t>
            </a:r>
          </a:p>
          <a:p>
            <a:pPr lvl="0"/>
            <a:r>
              <a:rPr lang="en-IN" sz="1600" b="1" dirty="0"/>
              <a:t>Akamai CDN</a:t>
            </a:r>
            <a:r>
              <a:rPr lang="en-IN" sz="1600" dirty="0"/>
              <a:t> – Delivers Instagram’s media globally with low latency </a:t>
            </a:r>
          </a:p>
          <a:p>
            <a:pPr lvl="0"/>
            <a:r>
              <a:rPr lang="en-IN" sz="1600" b="1" dirty="0"/>
              <a:t>Meta CDN</a:t>
            </a:r>
            <a:r>
              <a:rPr lang="en-IN" sz="1600" dirty="0"/>
              <a:t> – Instagram’s own internal CDN that serves high-quality media efficiently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	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63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E53A-F0A4-D39D-9757-51BC90DF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Unique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D69E13-834E-2833-F767-FEB230F80C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1808" y="1885285"/>
            <a:ext cx="763863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ML-based feed ranking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personalized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messaging, Stories/Reels pipeline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distributed storage.</a:t>
            </a:r>
          </a:p>
        </p:txBody>
      </p:sp>
    </p:spTree>
    <p:extLst>
      <p:ext uri="{BB962C8B-B14F-4D97-AF65-F5344CB8AC3E}">
        <p14:creationId xmlns:p14="http://schemas.microsoft.com/office/powerpoint/2010/main" val="122791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A99E-178E-FB0C-1FD2-3B76F84D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Summary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4EF00B-43C8-DB9A-6294-5F4BC0CBE3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82673" y="2228671"/>
            <a:ext cx="84165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Instagram’s architecture blends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servers, microservices,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caching, and 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scale globally.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performance, high availability, and seamless user experience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512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1EFCF-E54B-D423-399E-31C4FEEB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5C618-3AB5-8A60-73D4-926C5B22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i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411477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{9D30EB7D-4CC9-4B8D-8A36-468FC0D879E2}tf16401375</Template>
  <TotalTime>34</TotalTime>
  <Words>463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MS Shell Dlg 2</vt:lpstr>
      <vt:lpstr>Wingdings</vt:lpstr>
      <vt:lpstr>Wingdings 3</vt:lpstr>
      <vt:lpstr>Madison</vt:lpstr>
      <vt:lpstr>INSTAGRAM</vt:lpstr>
      <vt:lpstr>INTRODUCTION</vt:lpstr>
      <vt:lpstr>Web Server Used: </vt:lpstr>
      <vt:lpstr>Backend Technology: </vt:lpstr>
      <vt:lpstr>Why These Tools?</vt:lpstr>
      <vt:lpstr>Architecture Type</vt:lpstr>
      <vt:lpstr>Hosting and strategy: </vt:lpstr>
      <vt:lpstr>Caching &amp; CDN</vt:lpstr>
      <vt:lpstr>Unique Features</vt:lpstr>
      <vt:lpstr>Summary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Raakesh N</dc:creator>
  <cp:lastModifiedBy>Raakesh N</cp:lastModifiedBy>
  <cp:revision>1</cp:revision>
  <dcterms:created xsi:type="dcterms:W3CDTF">2025-12-07T09:04:47Z</dcterms:created>
  <dcterms:modified xsi:type="dcterms:W3CDTF">2025-12-07T09:39:36Z</dcterms:modified>
</cp:coreProperties>
</file>